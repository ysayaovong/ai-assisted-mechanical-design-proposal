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64208"/>
            <a:ext cx="32004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USE 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Faster,
</a:t>
            </a:r>
            <a:pPr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Smarter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Mechanical Design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Manufacturing Environments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4343400"/>
            <a:ext cx="329184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889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Yengkong Sayaovong  </a:t>
            </a:r>
            <a:pPr indent="0" marL="0">
              <a:buNone/>
            </a:pPr>
            <a:r>
              <a:rPr lang="en-US" sz="10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Mechanical Designer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2011680" cy="1005840"/>
          </a:xfrm>
          <a:prstGeom prst="rect">
            <a:avLst/>
          </a:prstGeom>
          <a:solidFill>
            <a:srgbClr val="1A2C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Drawing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12280" y="1371600"/>
            <a:ext cx="2011680" cy="1005840"/>
          </a:xfrm>
          <a:prstGeom prst="rect">
            <a:avLst/>
          </a:prstGeom>
          <a:solidFill>
            <a:srgbClr val="1A2C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1920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Loops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651760"/>
            <a:ext cx="2011680" cy="1005840"/>
          </a:xfrm>
          <a:prstGeom prst="rect">
            <a:avLst/>
          </a:prstGeom>
          <a:solidFill>
            <a:srgbClr val="1A2C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63440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Design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Explored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12280" y="2651760"/>
            <a:ext cx="2011680" cy="1005840"/>
          </a:xfrm>
          <a:prstGeom prst="rect">
            <a:avLst/>
          </a:prstGeom>
          <a:solidFill>
            <a:srgbClr val="1A2C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03720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ECO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51960" y="4069080"/>
            <a:ext cx="4663440" cy="749808"/>
          </a:xfrm>
          <a:prstGeom prst="rect">
            <a:avLst/>
          </a:prstGeom>
          <a:solidFill>
            <a:srgbClr val="F4A261">
              <a:alpha val="8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408736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"AI-augmented designers deliver more accurate,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innovative drawings — in less time."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C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822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designers waste hours on tasks that don't require engineering judgment.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64008" cy="138988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Repetitive Drawing Revisions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" y="184708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spend 40–50% of their time on routine ECOs — updating title blocks, BOM entries, and standard note revisions instead of doing real engineering 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89888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89888"/>
            <a:ext cx="64008" cy="138988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4873752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Specification Research Overload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73752" y="184708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 across industry standards, material datasheets, and internal engineering guides to validate component tolerances takes hours per design cycle.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62656"/>
            <a:ext cx="64008" cy="138988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054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Rework from Miscommunication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" y="341985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drawing notes and verbal change requests lead to rework loops between Design, Manufacturing, and QA — each costing days of productivity.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962656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62656"/>
            <a:ext cx="64008" cy="138988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0" name="Text 18"/>
          <p:cNvSpPr/>
          <p:nvPr/>
        </p:nvSpPr>
        <p:spPr>
          <a:xfrm>
            <a:off x="4873752" y="3054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Limited Design Variant Exploration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73752" y="341985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pressure forces designers to commit to the first viable design rather than exploring multiple configurations — leaving performance and cost improvements untapped.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1A2C4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if Gen AI could handle the routine so designers focus purely on engineering?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743200" cy="45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2435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Designer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0482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Manufacturing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615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8529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Engineered Components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4198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AutoCAD, SolidWorks, ERP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74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840480" y="914400"/>
            <a:ext cx="4572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34840" y="914400"/>
            <a:ext cx="4434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mechanical designer receives a new order requiring custom component dimensions, a full BOM update, revised material specs, and a complete drawing package — needed within 3 days.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2176272"/>
            <a:ext cx="4572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34840" y="2176272"/>
            <a:ext cx="4434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approach: 1–2 days researching applicable standards, cross-referencing past similar designs, manually drafting notes, and back-and-forth clarification with Engineering.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0" y="3438144"/>
            <a:ext cx="4572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34840" y="3438144"/>
            <a:ext cx="4434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Gen AI: specs surfaced instantly, design notes drafted in minutes, BOM cross-check automated, and variant comparisons generated on demand — the designer focuses only on judgment calls.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46817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Gen AI → Instant spec lookup · Drawing note drafts · BOM automation · Variant generation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C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0" y="82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for Mechanical Designers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Gen AI stack layered into the existing mechanical design workflow: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61288"/>
            <a:ext cx="4187952" cy="161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61288"/>
            <a:ext cx="4187952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0700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207008"/>
            <a:ext cx="3950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Research &amp; Documentation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09928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industry standard lookups by query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029968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drawing notes, tolerances, and specs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350008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design intent for cross-functional review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27448" y="1161288"/>
            <a:ext cx="4187952" cy="161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1161288"/>
            <a:ext cx="4187952" cy="3840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4837176" y="120700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(M365)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37176" y="1207008"/>
            <a:ext cx="3950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&amp; BOM Workflow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64608" y="1709928"/>
            <a:ext cx="91440" cy="914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0056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Auto-populates title blocks and revision tables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64608" y="2029968"/>
            <a:ext cx="91440" cy="914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0056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ECO change descriptions from bullet inputs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64608" y="2350008"/>
            <a:ext cx="91440" cy="9144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5020056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change requests from emails and chats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962656"/>
            <a:ext cx="4187952" cy="161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962656"/>
            <a:ext cx="4187952" cy="384048"/>
          </a:xfrm>
          <a:prstGeom prst="rect">
            <a:avLst/>
          </a:prstGeom>
          <a:solidFill>
            <a:srgbClr val="007B6E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00837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84048" y="3008376"/>
            <a:ext cx="3950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Vendor Research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511296"/>
            <a:ext cx="91440" cy="91440"/>
          </a:xfrm>
          <a:prstGeom prst="ellipse">
            <a:avLst/>
          </a:prstGeom>
          <a:solidFill>
            <a:srgbClr val="007B6E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465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lookup of applicable industry standards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3831336"/>
            <a:ext cx="91440" cy="91440"/>
          </a:xfrm>
          <a:prstGeom prst="ellipse">
            <a:avLst/>
          </a:prstGeom>
          <a:solidFill>
            <a:srgbClr val="007B6E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supplier specs and lead-time benchmarking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4151376"/>
            <a:ext cx="91440" cy="91440"/>
          </a:xfrm>
          <a:prstGeom prst="ellipse">
            <a:avLst/>
          </a:prstGeom>
          <a:solidFill>
            <a:srgbClr val="007B6E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105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sources for engineering traceability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27448" y="2962656"/>
            <a:ext cx="4187952" cy="161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27448" y="2962656"/>
            <a:ext cx="4187952" cy="3840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8" name="Text 36"/>
          <p:cNvSpPr/>
          <p:nvPr/>
        </p:nvSpPr>
        <p:spPr>
          <a:xfrm>
            <a:off x="4837176" y="300837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837176" y="3008376"/>
            <a:ext cx="3950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Variant Analysis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64608" y="3511296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1" name="Text 39"/>
          <p:cNvSpPr/>
          <p:nvPr/>
        </p:nvSpPr>
        <p:spPr>
          <a:xfrm>
            <a:off x="5020056" y="3465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parametric design options for review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64608" y="3831336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3" name="Text 41"/>
          <p:cNvSpPr/>
          <p:nvPr/>
        </p:nvSpPr>
        <p:spPr>
          <a:xfrm>
            <a:off x="5020056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material and dimension trade-offs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64608" y="4151376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5" name="Text 43"/>
          <p:cNvSpPr/>
          <p:nvPr/>
        </p:nvSpPr>
        <p:spPr>
          <a:xfrm>
            <a:off x="5020056" y="4105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past similar designs from brief descriptions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60720" y="822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Design Workflow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new order to completed drawing package — in a fraction of the usual time: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" y="1536192"/>
            <a:ext cx="0" cy="347472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841248" y="1078992"/>
            <a:ext cx="7178040" cy="658368"/>
          </a:xfrm>
          <a:prstGeom prst="rect">
            <a:avLst/>
          </a:prstGeom>
          <a:solidFill>
            <a:srgbClr val="243B55"/>
          </a:solidFill>
          <a:ln w="6350">
            <a:solidFill>
              <a:srgbClr val="2D3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1338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&amp; Parse the Order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140817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order specs into Claude. AI extracts key parameters, flags non-standard requirements, and organizes inputs for the design team before work begins.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80960" y="1207008"/>
            <a:ext cx="1234440" cy="384048"/>
          </a:xfrm>
          <a:prstGeom prst="rect">
            <a:avLst/>
          </a:prstGeom>
          <a:solidFill>
            <a:srgbClr val="F4A261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12070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874520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" y="2295144"/>
            <a:ext cx="0" cy="347472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841248" y="1837944"/>
            <a:ext cx="7178040" cy="658368"/>
          </a:xfrm>
          <a:prstGeom prst="rect">
            <a:avLst/>
          </a:prstGeom>
          <a:solidFill>
            <a:srgbClr val="243B55"/>
          </a:solidFill>
          <a:ln w="6350">
            <a:solidFill>
              <a:srgbClr val="2D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18928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Applicable Standards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21671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AI with design parameters. It surfaces the relevant standard clauses, insulation levels, material grades, and clearance requirements — no manual standard hunting.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0" y="1965960"/>
            <a:ext cx="1234440" cy="384048"/>
          </a:xfrm>
          <a:prstGeom prst="rect">
            <a:avLst/>
          </a:prstGeom>
          <a:solidFill>
            <a:srgbClr val="F4A261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633472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1772" y="3054096"/>
            <a:ext cx="0" cy="347472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841248" y="2596896"/>
            <a:ext cx="7178040" cy="658368"/>
          </a:xfrm>
          <a:prstGeom prst="rect">
            <a:avLst/>
          </a:prstGeom>
          <a:solidFill>
            <a:srgbClr val="243B55"/>
          </a:solidFill>
          <a:ln w="6350">
            <a:solidFill>
              <a:srgbClr val="2D3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651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Design Notes &amp; BOM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7552" y="2926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component specs, material notes, and BOM line descriptions. Designer reviews, adjusts for shop-floor constraints, and finalizes before CAD entry.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0" y="2724912"/>
            <a:ext cx="1234440" cy="384048"/>
          </a:xfrm>
          <a:prstGeom prst="rect">
            <a:avLst/>
          </a:prstGeom>
          <a:solidFill>
            <a:srgbClr val="F4A261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2724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3392424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1772" y="3813048"/>
            <a:ext cx="0" cy="347472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ash"/>
          </a:ln>
        </p:spPr>
      </p:sp>
      <p:sp>
        <p:nvSpPr>
          <p:cNvPr id="33" name="Shape 31"/>
          <p:cNvSpPr/>
          <p:nvPr/>
        </p:nvSpPr>
        <p:spPr>
          <a:xfrm>
            <a:off x="841248" y="3355848"/>
            <a:ext cx="7178040" cy="658368"/>
          </a:xfrm>
          <a:prstGeom prst="rect">
            <a:avLst/>
          </a:prstGeom>
          <a:solidFill>
            <a:srgbClr val="243B55"/>
          </a:solidFill>
          <a:ln w="6350">
            <a:solidFill>
              <a:srgbClr val="2D3E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34107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Design Variants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" y="36850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compare 2–3 configurations or material options. It generates a structured trade-off table — designer picks the best fit and documents the rationale.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80960" y="3483864"/>
            <a:ext cx="1234440" cy="384048"/>
          </a:xfrm>
          <a:prstGeom prst="rect">
            <a:avLst/>
          </a:prstGeom>
          <a:solidFill>
            <a:srgbClr val="F4A261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34838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4151376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41248" y="4114800"/>
            <a:ext cx="7178040" cy="658368"/>
          </a:xfrm>
          <a:prstGeom prst="rect">
            <a:avLst/>
          </a:prstGeom>
          <a:solidFill>
            <a:srgbClr val="243B55"/>
          </a:solidFill>
          <a:ln w="6350">
            <a:solidFill>
              <a:srgbClr val="2D3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7552" y="41696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ECO &amp; Drawing Package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87552" y="44439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drafts the ECO change description from bullet notes. AI cross-checks BOM consistency. Designer finalizes drawing and submits for engineering review.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80960" y="4242816"/>
            <a:ext cx="1234440" cy="384048"/>
          </a:xfrm>
          <a:prstGeom prst="rect">
            <a:avLst/>
          </a:prstGeom>
          <a:solidFill>
            <a:srgbClr val="F4A261">
              <a:alpha val="8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680960" y="42428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Total time with AI: ~2.5 hrs  |  Traditional approach: 1–2 full days  |  Time savings: 60–70%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C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0" y="822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Business Impact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1975104" cy="1389888"/>
          </a:xfrm>
          <a:prstGeom prst="rect">
            <a:avLst/>
          </a:prstGeom>
          <a:solidFill>
            <a:srgbClr val="1A2C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" y="731520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01752" y="1444752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Cycle 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658368"/>
            <a:ext cx="1975104" cy="1389888"/>
          </a:xfrm>
          <a:prstGeom prst="rect">
            <a:avLst/>
          </a:prstGeom>
          <a:solidFill>
            <a:srgbClr val="1A3C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78024" y="731520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478024" y="1444752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per Order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08576" y="658368"/>
            <a:ext cx="1975104" cy="1389888"/>
          </a:xfrm>
          <a:prstGeom prst="rect">
            <a:avLst/>
          </a:prstGeom>
          <a:solidFill>
            <a:srgbClr val="1230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54296" y="731520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54296" y="1444752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Variants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per Job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84848" y="658368"/>
            <a:ext cx="1975104" cy="138988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30568" y="731520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830568" y="1444752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ECO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2311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3-Year ROI Model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33472"/>
          <a:ext cx="5166360" cy="2286000"/>
        </p:xfrm>
        <a:graphic>
          <a:graphicData uri="http://schemas.openxmlformats.org/drawingml/2006/table">
            <a:tbl>
              <a:tblPr/>
              <a:tblGrid>
                <a:gridCol w="2240280"/>
                <a:gridCol w="960120"/>
                <a:gridCol w="960120"/>
                <a:gridCol w="960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Tool Licenses (est.)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&amp; Onboarding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Designer Time Savings (40%)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 Cost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7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Benefit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7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7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7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669280" y="22311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669280" y="2633472"/>
            <a:ext cx="3246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760720" y="26700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Drawing Package Cycle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60720" y="28895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 →  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269480" y="28895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 hours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669280" y="3200400"/>
            <a:ext cx="3246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760720" y="323697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ECO Rework Loops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760720" y="3456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/ order  →  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269480" y="34564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/ order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669280" y="3767328"/>
            <a:ext cx="3246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760720" y="38039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Design Variants Reviewed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760720" y="4023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option  →  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269480" y="40233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options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69280" y="4334256"/>
            <a:ext cx="3246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760720" y="43708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Spec Research Time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760720" y="4590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hrs  →  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269480" y="4590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45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5486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0" y="82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 &amp; Risk Mitigation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still need to resolve before rolling this out to the design floor?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8449056" cy="841248"/>
          </a:xfrm>
          <a:prstGeom prst="rect">
            <a:avLst/>
          </a:prstGeom>
          <a:solidFill>
            <a:srgbClr val="243B55"/>
          </a:solidFill>
          <a:ln w="6350">
            <a:solidFill>
              <a:srgbClr val="2D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521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IP &amp; Drawing Confidentiality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95160" y="1188720"/>
            <a:ext cx="1691640" cy="256032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11887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 Review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Proprietary designs and customer specs must not be entered into public AI tools. Requires evaluation of enterprise-tier options (Copilot, Azure OpenAI) with data residency and access controls.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057400"/>
            <a:ext cx="8449056" cy="841248"/>
          </a:xfrm>
          <a:prstGeom prst="rect">
            <a:avLst/>
          </a:prstGeom>
          <a:solidFill>
            <a:srgbClr val="243B55"/>
          </a:solidFill>
          <a:ln w="6350">
            <a:solidFill>
              <a:srgbClr val="2D3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122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Accuracy of AI-Generated Specs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2148840"/>
            <a:ext cx="1691640" cy="256032"/>
          </a:xfrm>
          <a:prstGeom prst="rect">
            <a:avLst/>
          </a:prstGeom>
          <a:solidFill>
            <a:srgbClr val="5B9BD5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21488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Validation Needed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423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AI-generated drawing notes and tolerances must be validated by a licensed engineer before release. A mandatory human-review step in the workflow mitigates risk — AI drafts, engineer approves.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017520"/>
            <a:ext cx="8449056" cy="841248"/>
          </a:xfrm>
          <a:prstGeom prst="rect">
            <a:avLst/>
          </a:prstGeom>
          <a:solidFill>
            <a:srgbClr val="243B55"/>
          </a:solidFill>
          <a:ln w="6350">
            <a:solidFill>
              <a:srgbClr val="2D3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723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CAD System Integration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3108960"/>
            <a:ext cx="1691640" cy="256032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3108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Phased Rollout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383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Direct AI integration with AutoCAD or SolidWorks is limited today. Near-term: AI assists with notes and specs outside CAD. Medium-term: API-based automation of title blocks and BOM tables.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977640"/>
            <a:ext cx="8449056" cy="841248"/>
          </a:xfrm>
          <a:prstGeom prst="rect">
            <a:avLst/>
          </a:prstGeom>
          <a:solidFill>
            <a:srgbClr val="243B55"/>
          </a:solidFill>
          <a:ln w="6350">
            <a:solidFill>
              <a:srgbClr val="2D3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325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Designer Adoption &amp; Trust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95160" y="4069080"/>
            <a:ext cx="1691640" cy="256032"/>
          </a:xfrm>
          <a:prstGeom prst="rect">
            <a:avLst/>
          </a:prstGeom>
          <a:solidFill>
            <a:srgbClr val="70AD47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4069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Change Mgmt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343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Engineers may be skeptical of AI-generated specs. Requires structured onboarding, transparent AI output labeling, and early wins on low-risk tasks (ECO drafts, note templates) to build confidence.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6400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2743200" cy="45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Proven ROI: 3-year net benefit of $130K+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2128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 start: Works alongside existing CAD stack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8833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Immediate win: 60–70% time savings per job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16382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Quality lift: More variants, fewer rework loops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6393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Scalable: Extends to electrical, structural &amp; test docs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320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74980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90-Day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Pilot Program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840480" y="1920240"/>
            <a:ext cx="5029200" cy="45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2084832"/>
            <a:ext cx="64008" cy="5120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20848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(Days 1–30)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2331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selection, IP/data policy review, designer onboarding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2779776"/>
            <a:ext cx="64008" cy="5120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2779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(Days 31–60)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3026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Apply AI to one live design order end-to-end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3474720"/>
            <a:ext cx="64008" cy="5120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3474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(Days 61–90)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37216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cycle time, rework rate, and quality — present findings to leadership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4187952"/>
            <a:ext cx="5029200" cy="713232"/>
          </a:xfrm>
          <a:prstGeom prst="rect">
            <a:avLst/>
          </a:prstGeom>
          <a:solidFill>
            <a:srgbClr val="1A2C45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42336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Yengkong Sayaovong  </a:t>
            </a:r>
            <a:pPr indent="0" marL="0">
              <a:buNone/>
            </a:pPr>
            <a:r>
              <a:rPr lang="en-US" sz="1100" dirty="0">
                <a:solidFill>
                  <a:srgbClr val="BD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Mechanical Designer
</a:t>
            </a:r>
            <a:pPr indent="0" marL="0">
              <a:buNone/>
            </a:pPr>
            <a:r>
              <a:rPr lang="en-US" sz="900" dirty="0">
                <a:solidFill>
                  <a:srgbClr val="6B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/in/yengkong  ·  ASU B.S. Information Technology (Dec 2026)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Use Case: Gen AI for Mechanical Design</dc:title>
  <dc:subject>PptxGenJS Presentation</dc:subject>
  <dc:creator>PptxGenJS</dc:creator>
  <cp:lastModifiedBy>PptxGenJS</cp:lastModifiedBy>
  <cp:revision>1</cp:revision>
  <dcterms:created xsi:type="dcterms:W3CDTF">2026-03-12T13:58:36Z</dcterms:created>
  <dcterms:modified xsi:type="dcterms:W3CDTF">2026-03-12T13:58:36Z</dcterms:modified>
</cp:coreProperties>
</file>